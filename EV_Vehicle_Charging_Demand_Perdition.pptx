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5" r:id="rId1"/>
  </p:sldMasterIdLst>
  <p:sldIdLst>
    <p:sldId id="256" r:id="rId2"/>
    <p:sldId id="257" r:id="rId3"/>
    <p:sldId id="258" r:id="rId4"/>
    <p:sldId id="259" r:id="rId5"/>
    <p:sldId id="260" r:id="rId6"/>
    <p:sldId id="261" r:id="rId7"/>
    <p:sldId id="263" r:id="rId8"/>
    <p:sldId id="264" r:id="rId9"/>
    <p:sldId id="265" r:id="rId10"/>
    <p:sldId id="266" r:id="rId11"/>
    <p:sldId id="267" r:id="rId12"/>
    <p:sldId id="268" r:id="rId13"/>
    <p:sldId id="269" r:id="rId14"/>
    <p:sldId id="270" r:id="rId15"/>
    <p:sldId id="262" r:id="rId1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792">
          <p15:clr>
            <a:srgbClr val="A4A3A4"/>
          </p15:clr>
        </p15:guide>
        <p15:guide id="2" pos="192">
          <p15:clr>
            <a:srgbClr val="A4A3A4"/>
          </p15:clr>
        </p15:guide>
        <p15:guide id="3" orient="horz" pos="1080">
          <p15:clr>
            <a:srgbClr val="A4A3A4"/>
          </p15:clr>
        </p15:guide>
      </p15:sldGuideLst>
    </p:ext>
    <p: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go="http://customooxmlschemas.google.com/" xmlns="" r:id="rId220" roundtripDataSignature="AMtx7miWNY2LB4ETJwrL8F0N+EK9hEhqU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2" d="100"/>
          <a:sy n="82" d="100"/>
        </p:scale>
        <p:origin x="720" y="72"/>
      </p:cViewPr>
      <p:guideLst>
        <p:guide orient="horz" pos="792"/>
        <p:guide pos="192"/>
        <p:guide orient="horz" pos="10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22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slide" Target="slides/slide15.xml"/><Relationship Id="rId22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20"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22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3"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823413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78783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p:cSld name="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27718775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826647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2.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pic>
        <p:nvPicPr>
          <p:cNvPr id="13" name="Google Shape;110;p4" descr="A close up of a sign&#10;&#10;Description automatically generated">
            <a:extLst>
              <a:ext uri="{FF2B5EF4-FFF2-40B4-BE49-F238E27FC236}">
                <a16:creationId xmlns:a16="http://schemas.microsoft.com/office/drawing/2014/main" id="{CE849A3B-BCF0-B774-F89E-81965C71F93E}"/>
              </a:ext>
            </a:extLst>
          </p:cNvPr>
          <p:cNvPicPr preferRelativeResize="0"/>
          <p:nvPr/>
        </p:nvPicPr>
        <p:blipFill rotWithShape="1">
          <a:blip r:embed="rId6">
            <a:alphaModFix/>
          </a:blip>
          <a:srcRect/>
          <a:stretch/>
        </p:blipFill>
        <p:spPr>
          <a:xfrm>
            <a:off x="10072688" y="78002"/>
            <a:ext cx="1800225" cy="575514"/>
          </a:xfrm>
          <a:prstGeom prst="rect">
            <a:avLst/>
          </a:prstGeom>
          <a:noFill/>
          <a:ln>
            <a:noFill/>
          </a:ln>
        </p:spPr>
      </p:pic>
      <p:sp>
        <p:nvSpPr>
          <p:cNvPr id="15" name="Rectangle 14">
            <a:extLst>
              <a:ext uri="{FF2B5EF4-FFF2-40B4-BE49-F238E27FC236}">
                <a16:creationId xmlns:a16="http://schemas.microsoft.com/office/drawing/2014/main" id="{E153E6A6-60E4-FE14-1CBC-8CC211274D1C}"/>
              </a:ext>
            </a:extLst>
          </p:cNvPr>
          <p:cNvSpPr/>
          <p:nvPr/>
        </p:nvSpPr>
        <p:spPr>
          <a:xfrm>
            <a:off x="1" y="0"/>
            <a:ext cx="9829800" cy="717630"/>
          </a:xfrm>
          <a:prstGeom prst="rect">
            <a:avLst/>
          </a:prstGeom>
          <a:solidFill>
            <a:srgbClr val="213264"/>
          </a:solidFill>
          <a:ln>
            <a:solidFill>
              <a:srgbClr val="2132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a:extLst>
              <a:ext uri="{FF2B5EF4-FFF2-40B4-BE49-F238E27FC236}">
                <a16:creationId xmlns:a16="http://schemas.microsoft.com/office/drawing/2014/main" id="{2C7CE881-772B-9023-3054-4B219B75D755}"/>
              </a:ext>
            </a:extLst>
          </p:cNvPr>
          <p:cNvSpPr/>
          <p:nvPr/>
        </p:nvSpPr>
        <p:spPr>
          <a:xfrm>
            <a:off x="9888967" y="-419"/>
            <a:ext cx="112283" cy="732357"/>
          </a:xfrm>
          <a:prstGeom prst="rect">
            <a:avLst/>
          </a:prstGeom>
          <a:solidFill>
            <a:srgbClr val="7FBA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1" name="Picture 30" descr="A blue and white background&#10;&#10;Description automatically generated with medium confidence">
            <a:extLst>
              <a:ext uri="{FF2B5EF4-FFF2-40B4-BE49-F238E27FC236}">
                <a16:creationId xmlns:a16="http://schemas.microsoft.com/office/drawing/2014/main" id="{16A7B69A-9B14-87FE-841D-37F0A91D141D}"/>
              </a:ext>
            </a:extLst>
          </p:cNvPr>
          <p:cNvPicPr>
            <a:picLocks noChangeAspect="1"/>
          </p:cNvPicPr>
          <p:nvPr/>
        </p:nvPicPr>
        <p:blipFill rotWithShape="1">
          <a:blip r:embed="rId7">
            <a:alphaModFix amt="16000"/>
          </a:blip>
          <a:srcRect t="24724" r="1619" b="63695"/>
          <a:stretch/>
        </p:blipFill>
        <p:spPr>
          <a:xfrm>
            <a:off x="0" y="-1"/>
            <a:ext cx="9839325" cy="723901"/>
          </a:xfrm>
          <a:prstGeom prst="rect">
            <a:avLst/>
          </a:prstGeom>
        </p:spPr>
      </p:pic>
      <p:sp>
        <p:nvSpPr>
          <p:cNvPr id="2" name="Rectangle 1">
            <a:extLst>
              <a:ext uri="{FF2B5EF4-FFF2-40B4-BE49-F238E27FC236}">
                <a16:creationId xmlns:a16="http://schemas.microsoft.com/office/drawing/2014/main" id="{37B91A16-5D54-2FC0-B0FD-A78085FC1313}"/>
              </a:ext>
            </a:extLst>
          </p:cNvPr>
          <p:cNvSpPr/>
          <p:nvPr/>
        </p:nvSpPr>
        <p:spPr>
          <a:xfrm>
            <a:off x="11925300" y="-419"/>
            <a:ext cx="266700" cy="732357"/>
          </a:xfrm>
          <a:prstGeom prst="rect">
            <a:avLst/>
          </a:prstGeom>
          <a:solidFill>
            <a:srgbClr val="FED5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 bg1="lt1" tx1="dk1" bg2="dk2" tx2="lt2" accent1="accent1" accent2="accent2" accent3="accent3" accent4="accent4" accent5="accent5" accent6="accent6" hlink="hlink" folHlink="folHlink"/>
  <p:sldLayoutIdLst>
    <p:sldLayoutId id="2147483687" r:id="rId1"/>
    <p:sldLayoutId id="2147483701" r:id="rId2"/>
    <p:sldLayoutId id="2147483714" r:id="rId3"/>
    <p:sldLayoutId id="2147483727" r:id="rId4"/>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person sitting at a desk with a computer&#10;&#10;Description automatically generated">
            <a:extLst>
              <a:ext uri="{FF2B5EF4-FFF2-40B4-BE49-F238E27FC236}">
                <a16:creationId xmlns:a16="http://schemas.microsoft.com/office/drawing/2014/main" id="{07B8740D-C76F-46FC-AEFB-23FB0614DB0C}"/>
              </a:ext>
            </a:extLst>
          </p:cNvPr>
          <p:cNvPicPr>
            <a:picLocks noChangeAspect="1"/>
          </p:cNvPicPr>
          <p:nvPr/>
        </p:nvPicPr>
        <p:blipFill>
          <a:blip r:embed="rId2"/>
          <a:stretch>
            <a:fillRect/>
          </a:stretch>
        </p:blipFill>
        <p:spPr>
          <a:xfrm>
            <a:off x="0" y="0"/>
            <a:ext cx="12192000" cy="6858000"/>
          </a:xfrm>
          <a:prstGeom prst="rect">
            <a:avLst/>
          </a:prstGeom>
        </p:spPr>
      </p:pic>
      <p:sp>
        <p:nvSpPr>
          <p:cNvPr id="5" name="TextBox 4">
            <a:extLst>
              <a:ext uri="{FF2B5EF4-FFF2-40B4-BE49-F238E27FC236}">
                <a16:creationId xmlns:a16="http://schemas.microsoft.com/office/drawing/2014/main" id="{D5067E9C-C7B9-4476-9708-CBB3F66FD892}"/>
              </a:ext>
            </a:extLst>
          </p:cNvPr>
          <p:cNvSpPr txBox="1"/>
          <p:nvPr/>
        </p:nvSpPr>
        <p:spPr>
          <a:xfrm>
            <a:off x="4300143" y="2274838"/>
            <a:ext cx="6870861" cy="2308324"/>
          </a:xfrm>
          <a:prstGeom prst="rect">
            <a:avLst/>
          </a:prstGeom>
          <a:noFill/>
        </p:spPr>
        <p:txBody>
          <a:bodyPr wrap="square" rtlCol="0">
            <a:spAutoFit/>
          </a:bodyPr>
          <a:lstStyle/>
          <a:p>
            <a:pPr algn="r"/>
            <a:r>
              <a:rPr lang="en-US" sz="3600" b="1" dirty="0">
                <a:solidFill>
                  <a:schemeClr val="bg1"/>
                </a:solidFill>
                <a:latin typeface="Calibri" panose="020F0502020204030204" pitchFamily="34" charset="0"/>
                <a:cs typeface="Times New Roman" panose="02020603050405020304" pitchFamily="18" charset="0"/>
              </a:rPr>
              <a:t>EV Vehicle/Charging Demand Perdition</a:t>
            </a:r>
          </a:p>
          <a:p>
            <a:pPr algn="r"/>
            <a:endParaRPr lang="en-US" sz="3600" b="1" dirty="0">
              <a:solidFill>
                <a:schemeClr val="bg1"/>
              </a:solidFill>
              <a:latin typeface="Calibri" panose="020F0502020204030204" pitchFamily="34" charset="0"/>
              <a:cs typeface="Times New Roman" panose="02020603050405020304" pitchFamily="18" charset="0"/>
            </a:endParaRPr>
          </a:p>
          <a:p>
            <a:pPr algn="r"/>
            <a:r>
              <a:rPr lang="en-US" sz="3600" b="1" dirty="0">
                <a:solidFill>
                  <a:schemeClr val="bg1"/>
                </a:solidFill>
                <a:latin typeface="Calibri" panose="020F0502020204030204" pitchFamily="34" charset="0"/>
                <a:cs typeface="Times New Roman" panose="02020603050405020304" pitchFamily="18" charset="0"/>
              </a:rPr>
              <a:t>-</a:t>
            </a:r>
            <a:r>
              <a:rPr lang="en-US" sz="3200" b="1" dirty="0">
                <a:solidFill>
                  <a:schemeClr val="bg1"/>
                </a:solidFill>
                <a:latin typeface="Calibri" panose="020F0502020204030204" pitchFamily="34" charset="0"/>
                <a:cs typeface="Times New Roman" panose="02020603050405020304" pitchFamily="18" charset="0"/>
              </a:rPr>
              <a:t>Jeevanantham S</a:t>
            </a:r>
          </a:p>
        </p:txBody>
      </p:sp>
    </p:spTree>
    <p:extLst>
      <p:ext uri="{BB962C8B-B14F-4D97-AF65-F5344CB8AC3E}">
        <p14:creationId xmlns:p14="http://schemas.microsoft.com/office/powerpoint/2010/main" val="3671276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094E319-C77C-49E2-964C-6E125D716194}"/>
              </a:ext>
            </a:extLst>
          </p:cNvPr>
          <p:cNvSpPr txBox="1"/>
          <p:nvPr/>
        </p:nvSpPr>
        <p:spPr>
          <a:xfrm>
            <a:off x="191911" y="972537"/>
            <a:ext cx="2652889" cy="1323439"/>
          </a:xfrm>
          <a:prstGeom prst="rect">
            <a:avLst/>
          </a:prstGeom>
          <a:noFill/>
        </p:spPr>
        <p:txBody>
          <a:bodyPr wrap="square">
            <a:spAutoFit/>
          </a:bodyPr>
          <a:lstStyle/>
          <a:p>
            <a:r>
              <a:rPr lang="en-IN" sz="2000" b="1" dirty="0">
                <a:solidFill>
                  <a:srgbClr val="213163"/>
                </a:solidFill>
              </a:rPr>
              <a:t>Learning Objectives</a:t>
            </a:r>
          </a:p>
          <a:p>
            <a:endParaRPr lang="en-IN" sz="2000" b="1" dirty="0">
              <a:solidFill>
                <a:srgbClr val="213163"/>
              </a:solidFill>
            </a:endParaRPr>
          </a:p>
          <a:p>
            <a:endParaRPr lang="en-IN" sz="2000" b="1" dirty="0">
              <a:solidFill>
                <a:srgbClr val="213163"/>
              </a:solidFill>
            </a:endParaRPr>
          </a:p>
          <a:p>
            <a:endParaRPr lang="en-IN" sz="2000" b="1" dirty="0">
              <a:solidFill>
                <a:srgbClr val="213163"/>
              </a:solidFill>
            </a:endParaRPr>
          </a:p>
        </p:txBody>
      </p:sp>
      <p:cxnSp>
        <p:nvCxnSpPr>
          <p:cNvPr id="5" name="Straight Connector 4">
            <a:extLst>
              <a:ext uri="{FF2B5EF4-FFF2-40B4-BE49-F238E27FC236}">
                <a16:creationId xmlns:a16="http://schemas.microsoft.com/office/drawing/2014/main" id="{CA22F707-7F22-48A3-97EC-98EFB1023A55}"/>
              </a:ext>
            </a:extLst>
          </p:cNvPr>
          <p:cNvCxnSpPr/>
          <p:nvPr/>
        </p:nvCxnSpPr>
        <p:spPr>
          <a:xfrm>
            <a:off x="199809" y="6848462"/>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ladder leading to a large yellow circle&#10;&#10;Description automatically generated">
            <a:extLst>
              <a:ext uri="{FF2B5EF4-FFF2-40B4-BE49-F238E27FC236}">
                <a16:creationId xmlns:a16="http://schemas.microsoft.com/office/drawing/2014/main" id="{E2920B14-B344-4926-9729-BC7EBD91FF9A}"/>
              </a:ext>
            </a:extLst>
          </p:cNvPr>
          <p:cNvPicPr>
            <a:picLocks noChangeAspect="1"/>
          </p:cNvPicPr>
          <p:nvPr/>
        </p:nvPicPr>
        <p:blipFill rotWithShape="1">
          <a:blip r:embed="rId2">
            <a:alphaModFix amt="85000"/>
          </a:blip>
          <a:srcRect l="13763" t="6135" r="13650"/>
          <a:stretch/>
        </p:blipFill>
        <p:spPr>
          <a:xfrm>
            <a:off x="7345680" y="1442720"/>
            <a:ext cx="4500880" cy="4632960"/>
          </a:xfrm>
          <a:prstGeom prst="rect">
            <a:avLst/>
          </a:prstGeom>
        </p:spPr>
      </p:pic>
      <p:sp>
        <p:nvSpPr>
          <p:cNvPr id="7" name="TextBox 6">
            <a:extLst>
              <a:ext uri="{FF2B5EF4-FFF2-40B4-BE49-F238E27FC236}">
                <a16:creationId xmlns:a16="http://schemas.microsoft.com/office/drawing/2014/main" id="{6C264928-EACB-4739-BDDA-6799C99356F3}"/>
              </a:ext>
            </a:extLst>
          </p:cNvPr>
          <p:cNvSpPr txBox="1"/>
          <p:nvPr/>
        </p:nvSpPr>
        <p:spPr>
          <a:xfrm>
            <a:off x="8839200" y="3168609"/>
            <a:ext cx="1503681" cy="630942"/>
          </a:xfrm>
          <a:prstGeom prst="rect">
            <a:avLst/>
          </a:prstGeom>
          <a:noFill/>
        </p:spPr>
        <p:txBody>
          <a:bodyPr wrap="square" rtlCol="0">
            <a:spAutoFit/>
          </a:bodyPr>
          <a:lstStyle/>
          <a:p>
            <a:pPr>
              <a:spcAft>
                <a:spcPts val="800"/>
              </a:spcAft>
            </a:pPr>
            <a:r>
              <a:rPr lang="en-IN" sz="3500" b="1" dirty="0">
                <a:solidFill>
                  <a:schemeClr val="tx1"/>
                </a:solidFill>
                <a:latin typeface="+mn-lt"/>
              </a:rPr>
              <a:t>GOAL</a:t>
            </a:r>
          </a:p>
        </p:txBody>
      </p:sp>
      <p:sp>
        <p:nvSpPr>
          <p:cNvPr id="8" name="Rectangle 1">
            <a:extLst>
              <a:ext uri="{FF2B5EF4-FFF2-40B4-BE49-F238E27FC236}">
                <a16:creationId xmlns:a16="http://schemas.microsoft.com/office/drawing/2014/main" id="{E8C8FF34-B939-3B6A-6403-ADBBFCC973C2}"/>
              </a:ext>
            </a:extLst>
          </p:cNvPr>
          <p:cNvSpPr>
            <a:spLocks noChangeArrowheads="1"/>
          </p:cNvSpPr>
          <p:nvPr/>
        </p:nvSpPr>
        <p:spPr bwMode="auto">
          <a:xfrm rot="10800000" flipV="1">
            <a:off x="199809" y="2021191"/>
            <a:ext cx="11311471"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Understand the factors influencing EV adoption and charging needs.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Apply machine learning techniques to predict demand patterns.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Use predictive analytics for better infrastructure planning.</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Visualize demand trends for decision-making.</a:t>
            </a:r>
          </a:p>
        </p:txBody>
      </p:sp>
      <p:pic>
        <p:nvPicPr>
          <p:cNvPr id="10" name="Picture 9">
            <a:extLst>
              <a:ext uri="{FF2B5EF4-FFF2-40B4-BE49-F238E27FC236}">
                <a16:creationId xmlns:a16="http://schemas.microsoft.com/office/drawing/2014/main" id="{17130F7D-192B-33CE-5469-AB76AC549631}"/>
              </a:ext>
            </a:extLst>
          </p:cNvPr>
          <p:cNvPicPr>
            <a:picLocks noChangeAspect="1"/>
          </p:cNvPicPr>
          <p:nvPr/>
        </p:nvPicPr>
        <p:blipFill>
          <a:blip r:embed="rId3"/>
          <a:stretch>
            <a:fillRect/>
          </a:stretch>
        </p:blipFill>
        <p:spPr>
          <a:xfrm>
            <a:off x="8696396" y="-1972"/>
            <a:ext cx="3495604" cy="784292"/>
          </a:xfrm>
          <a:prstGeom prst="rect">
            <a:avLst/>
          </a:prstGeom>
        </p:spPr>
      </p:pic>
    </p:spTree>
    <p:extLst>
      <p:ext uri="{BB962C8B-B14F-4D97-AF65-F5344CB8AC3E}">
        <p14:creationId xmlns:p14="http://schemas.microsoft.com/office/powerpoint/2010/main" val="29320524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298579" y="1226284"/>
            <a:ext cx="6102626" cy="400110"/>
          </a:xfrm>
          <a:prstGeom prst="rect">
            <a:avLst/>
          </a:prstGeom>
          <a:noFill/>
        </p:spPr>
        <p:txBody>
          <a:bodyPr wrap="square">
            <a:spAutoFit/>
          </a:bodyPr>
          <a:lstStyle/>
          <a:p>
            <a:r>
              <a:rPr lang="en-US" sz="1800" b="1" dirty="0">
                <a:solidFill>
                  <a:srgbClr val="213163"/>
                </a:solidFill>
              </a:rPr>
              <a:t>T</a:t>
            </a:r>
            <a:r>
              <a:rPr lang="en-IN" sz="2000" b="1" dirty="0" err="1">
                <a:solidFill>
                  <a:srgbClr val="213163"/>
                </a:solidFill>
              </a:rPr>
              <a:t>ools</a:t>
            </a:r>
            <a:r>
              <a:rPr lang="en-IN" sz="2000" b="1" dirty="0">
                <a:solidFill>
                  <a:srgbClr val="213163"/>
                </a:solidFill>
              </a:rPr>
              <a:t> and Technology used </a:t>
            </a:r>
          </a:p>
        </p:txBody>
      </p:sp>
      <p:sp>
        <p:nvSpPr>
          <p:cNvPr id="2" name="Rectangle 1">
            <a:extLst>
              <a:ext uri="{FF2B5EF4-FFF2-40B4-BE49-F238E27FC236}">
                <a16:creationId xmlns:a16="http://schemas.microsoft.com/office/drawing/2014/main" id="{A6493895-DCED-8BF8-DB0F-F87C838FA783}"/>
              </a:ext>
            </a:extLst>
          </p:cNvPr>
          <p:cNvSpPr>
            <a:spLocks noChangeArrowheads="1"/>
          </p:cNvSpPr>
          <p:nvPr/>
        </p:nvSpPr>
        <p:spPr bwMode="auto">
          <a:xfrm>
            <a:off x="625150" y="1779745"/>
            <a:ext cx="6817892"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Programming:</a:t>
            </a:r>
            <a:r>
              <a:rPr kumimoji="0" lang="en-US" altLang="en-US" sz="1800" b="0" i="0" u="none" strike="noStrike" cap="none" normalizeH="0" baseline="0" dirty="0">
                <a:ln>
                  <a:noFill/>
                </a:ln>
                <a:solidFill>
                  <a:schemeClr val="tx1"/>
                </a:solidFill>
                <a:effectLst/>
                <a:latin typeface="Arial" panose="020B0604020202020204" pitchFamily="34" charset="0"/>
              </a:rPr>
              <a:t> Python</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tx1"/>
              </a:solidFill>
              <a:latin typeface="Arial" panose="020B0604020202020204" pitchFamily="34" charset="0"/>
            </a:endParaRPr>
          </a:p>
          <a:p>
            <a:pPr lvl="0" eaLnBrk="0" fontAlgn="base" hangingPunct="0">
              <a:spcBef>
                <a:spcPct val="0"/>
              </a:spcBef>
              <a:spcAft>
                <a:spcPct val="0"/>
              </a:spcAft>
              <a:buClrTx/>
              <a:buFontTx/>
              <a:buChar char="•"/>
            </a:pPr>
            <a:r>
              <a:rPr lang="en-US" altLang="en-US" sz="1800" b="1" dirty="0">
                <a:solidFill>
                  <a:schemeClr val="tx1"/>
                </a:solidFill>
                <a:latin typeface="Arial" panose="020B0604020202020204" pitchFamily="34" charset="0"/>
              </a:rPr>
              <a:t>Libraries</a:t>
            </a:r>
            <a:r>
              <a:rPr lang="en-US" altLang="en-US" sz="1800" dirty="0">
                <a:solidFill>
                  <a:schemeClr val="tx1"/>
                </a:solidFill>
                <a:latin typeface="Arial" panose="020B0604020202020204" pitchFamily="34" charset="0"/>
              </a:rPr>
              <a:t>: Pandas, NumPy, Matplotlib, Seaborn, Scikit-learn</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Machine Learning Models:</a:t>
            </a:r>
            <a:r>
              <a:rPr kumimoji="0" lang="en-US" altLang="en-US" sz="1800" b="0" i="0" u="none" strike="noStrike" cap="none" normalizeH="0" baseline="0" dirty="0">
                <a:ln>
                  <a:noFill/>
                </a:ln>
                <a:solidFill>
                  <a:schemeClr val="tx1"/>
                </a:solidFill>
                <a:effectLst/>
                <a:latin typeface="Arial" panose="020B0604020202020204" pitchFamily="34" charset="0"/>
              </a:rPr>
              <a:t> Linear Regression, Random Forest</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Environment: </a:t>
            </a:r>
            <a:r>
              <a:rPr kumimoji="0" lang="en-US" altLang="en-US" sz="1800" i="0" u="none" strike="noStrike" cap="none" normalizeH="0" baseline="0" dirty="0">
                <a:ln>
                  <a:noFill/>
                </a:ln>
                <a:solidFill>
                  <a:schemeClr val="tx1"/>
                </a:solidFill>
                <a:effectLst/>
                <a:latin typeface="Arial" panose="020B0604020202020204" pitchFamily="34" charset="0"/>
              </a:rPr>
              <a:t>Visual Studio Code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Data Sources: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lvl="1" eaLnBrk="0" fontAlgn="base" hangingPunct="0">
              <a:spcBef>
                <a:spcPct val="0"/>
              </a:spcBef>
              <a:spcAft>
                <a:spcPct val="0"/>
              </a:spcAft>
              <a:buClr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 EV registration data (Govt. open data)</a:t>
            </a:r>
          </a:p>
          <a:p>
            <a:pPr lvl="1" eaLnBrk="0" fontAlgn="base" hangingPunct="0">
              <a:spcBef>
                <a:spcPct val="0"/>
              </a:spcBef>
              <a:spcAft>
                <a:spcPct val="0"/>
              </a:spcAft>
              <a:buClr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 Charging station usage logs</a:t>
            </a:r>
          </a:p>
          <a:p>
            <a:pPr lvl="1" eaLnBrk="0" fontAlgn="base" hangingPunct="0">
              <a:spcBef>
                <a:spcPct val="0"/>
              </a:spcBef>
              <a:spcAft>
                <a:spcPct val="0"/>
              </a:spcAft>
              <a:buClr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 Traffic &amp; population density data</a:t>
            </a:r>
          </a:p>
          <a:p>
            <a:pPr marL="0" marR="0" lvl="0" indent="0"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Visualization:</a:t>
            </a:r>
            <a:r>
              <a:rPr kumimoji="0" lang="en-US" altLang="en-US" sz="1800" b="0" i="0" u="none" strike="noStrike" cap="none" normalizeH="0" baseline="0" dirty="0">
                <a:ln>
                  <a:noFill/>
                </a:ln>
                <a:solidFill>
                  <a:schemeClr val="tx1"/>
                </a:solidFill>
                <a:effectLst/>
                <a:latin typeface="Arial" panose="020B0604020202020204" pitchFamily="34" charset="0"/>
              </a:rPr>
              <a:t> Tableau / Power BI / Matplotlib</a:t>
            </a:r>
          </a:p>
        </p:txBody>
      </p:sp>
      <p:pic>
        <p:nvPicPr>
          <p:cNvPr id="4" name="Picture 3">
            <a:extLst>
              <a:ext uri="{FF2B5EF4-FFF2-40B4-BE49-F238E27FC236}">
                <a16:creationId xmlns:a16="http://schemas.microsoft.com/office/drawing/2014/main" id="{D45D3B2A-1A25-E5C4-0249-9A004D7D645E}"/>
              </a:ext>
            </a:extLst>
          </p:cNvPr>
          <p:cNvPicPr>
            <a:picLocks noChangeAspect="1"/>
          </p:cNvPicPr>
          <p:nvPr/>
        </p:nvPicPr>
        <p:blipFill>
          <a:blip r:embed="rId2"/>
          <a:stretch>
            <a:fillRect/>
          </a:stretch>
        </p:blipFill>
        <p:spPr>
          <a:xfrm>
            <a:off x="8696396" y="-1972"/>
            <a:ext cx="3495604" cy="784292"/>
          </a:xfrm>
          <a:prstGeom prst="rect">
            <a:avLst/>
          </a:prstGeom>
        </p:spPr>
      </p:pic>
    </p:spTree>
    <p:extLst>
      <p:ext uri="{BB962C8B-B14F-4D97-AF65-F5344CB8AC3E}">
        <p14:creationId xmlns:p14="http://schemas.microsoft.com/office/powerpoint/2010/main" val="5645712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6626" y="1320754"/>
            <a:ext cx="6102626" cy="400110"/>
          </a:xfrm>
          <a:prstGeom prst="rect">
            <a:avLst/>
          </a:prstGeom>
          <a:noFill/>
        </p:spPr>
        <p:txBody>
          <a:bodyPr wrap="square">
            <a:spAutoFit/>
          </a:bodyPr>
          <a:lstStyle/>
          <a:p>
            <a:r>
              <a:rPr lang="en-US" sz="2000" b="1" dirty="0">
                <a:solidFill>
                  <a:srgbClr val="213163"/>
                </a:solidFill>
              </a:rPr>
              <a:t>Methodology</a:t>
            </a:r>
            <a:r>
              <a:rPr lang="en-US" sz="1800" b="1" dirty="0">
                <a:solidFill>
                  <a:srgbClr val="213163"/>
                </a:solidFill>
              </a:rPr>
              <a:t> </a:t>
            </a:r>
            <a:endParaRPr lang="en-IN" sz="1800" dirty="0">
              <a:solidFill>
                <a:srgbClr val="213163"/>
              </a:solidFill>
            </a:endParaRPr>
          </a:p>
        </p:txBody>
      </p:sp>
      <p:sp>
        <p:nvSpPr>
          <p:cNvPr id="2" name="Rectangle 1">
            <a:extLst>
              <a:ext uri="{FF2B5EF4-FFF2-40B4-BE49-F238E27FC236}">
                <a16:creationId xmlns:a16="http://schemas.microsoft.com/office/drawing/2014/main" id="{E0F01A9C-F3E8-9AD5-5EC9-F1669CD9D582}"/>
              </a:ext>
            </a:extLst>
          </p:cNvPr>
          <p:cNvSpPr>
            <a:spLocks noChangeArrowheads="1"/>
          </p:cNvSpPr>
          <p:nvPr/>
        </p:nvSpPr>
        <p:spPr bwMode="auto">
          <a:xfrm>
            <a:off x="0" y="1843927"/>
            <a:ext cx="11590032"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sz="2400" dirty="0">
              <a:solidFill>
                <a:srgbClr val="213163"/>
              </a:solidFill>
            </a:endParaRPr>
          </a:p>
          <a:p>
            <a:r>
              <a:rPr lang="en-US" sz="1800" dirty="0">
                <a:solidFill>
                  <a:schemeClr val="tx1"/>
                </a:solidFill>
              </a:rPr>
              <a:t>1.looked for patterns and missing values in the monthly EV adoption data.</a:t>
            </a:r>
          </a:p>
          <a:p>
            <a:endParaRPr lang="en-US" sz="1800" dirty="0">
              <a:solidFill>
                <a:schemeClr val="tx1"/>
              </a:solidFill>
            </a:endParaRPr>
          </a:p>
          <a:p>
            <a:r>
              <a:rPr lang="en-US" sz="1800" dirty="0">
                <a:solidFill>
                  <a:schemeClr val="tx1"/>
                </a:solidFill>
              </a:rPr>
              <a:t>2.developed time-based features such as lag values and moving averages.</a:t>
            </a:r>
          </a:p>
          <a:p>
            <a:endParaRPr lang="en-US" sz="1600" dirty="0">
              <a:solidFill>
                <a:schemeClr val="tx1"/>
              </a:solidFill>
            </a:endParaRPr>
          </a:p>
          <a:p>
            <a:r>
              <a:rPr lang="en-US" sz="1800" dirty="0">
                <a:solidFill>
                  <a:schemeClr val="tx1"/>
                </a:solidFill>
              </a:rPr>
              <a:t>3.used </a:t>
            </a:r>
            <a:r>
              <a:rPr lang="en-US" sz="1800" dirty="0" err="1">
                <a:solidFill>
                  <a:schemeClr val="tx1"/>
                </a:solidFill>
              </a:rPr>
              <a:t>RandomizedSearchCV</a:t>
            </a:r>
            <a:r>
              <a:rPr lang="en-US" sz="1800" dirty="0">
                <a:solidFill>
                  <a:schemeClr val="tx1"/>
                </a:solidFill>
              </a:rPr>
              <a:t> to fine-tune a Random Forest Regressor after it had been trained.</a:t>
            </a:r>
          </a:p>
          <a:p>
            <a:endParaRPr lang="en-US" sz="1800" dirty="0">
              <a:solidFill>
                <a:schemeClr val="tx1"/>
              </a:solidFill>
            </a:endParaRPr>
          </a:p>
          <a:p>
            <a:r>
              <a:rPr lang="en-US" sz="1800" dirty="0">
                <a:solidFill>
                  <a:schemeClr val="tx1"/>
                </a:solidFill>
              </a:rPr>
              <a:t>4.forecasted future EV adoption month by month using an autoregressive approach.</a:t>
            </a:r>
          </a:p>
          <a:p>
            <a:endParaRPr lang="en-US" sz="1800" dirty="0">
              <a:solidFill>
                <a:schemeClr val="tx1"/>
              </a:solidFill>
            </a:endParaRPr>
          </a:p>
          <a:p>
            <a:r>
              <a:rPr lang="en-US" sz="1800" dirty="0">
                <a:solidFill>
                  <a:schemeClr val="tx1"/>
                </a:solidFill>
              </a:rPr>
              <a:t>5.assessed the model's performance and displayed the differences between the actual and expected outcomes</a:t>
            </a:r>
            <a:r>
              <a:rPr lang="en-US" sz="1800" dirty="0">
                <a:solidFill>
                  <a:srgbClr val="213163"/>
                </a:solidFill>
              </a:rPr>
              <a:t>.</a:t>
            </a:r>
          </a:p>
          <a:p>
            <a:r>
              <a:rPr lang="en-US" sz="1800" dirty="0">
                <a:solidFill>
                  <a:srgbClr val="213163"/>
                </a:solidFill>
              </a:rPr>
              <a:t> `</a:t>
            </a:r>
            <a:endParaRPr lang="en-IN" sz="1800" dirty="0">
              <a:solidFill>
                <a:srgbClr val="213163"/>
              </a:solidFill>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4" name="Picture 3">
            <a:extLst>
              <a:ext uri="{FF2B5EF4-FFF2-40B4-BE49-F238E27FC236}">
                <a16:creationId xmlns:a16="http://schemas.microsoft.com/office/drawing/2014/main" id="{A2BB7E22-45CE-D22A-4CE5-3115425E027F}"/>
              </a:ext>
            </a:extLst>
          </p:cNvPr>
          <p:cNvPicPr>
            <a:picLocks noChangeAspect="1"/>
          </p:cNvPicPr>
          <p:nvPr/>
        </p:nvPicPr>
        <p:blipFill>
          <a:blip r:embed="rId2"/>
          <a:stretch>
            <a:fillRect/>
          </a:stretch>
        </p:blipFill>
        <p:spPr>
          <a:xfrm>
            <a:off x="8696396" y="-1972"/>
            <a:ext cx="3495604" cy="784292"/>
          </a:xfrm>
          <a:prstGeom prst="rect">
            <a:avLst/>
          </a:prstGeom>
        </p:spPr>
      </p:pic>
    </p:spTree>
    <p:extLst>
      <p:ext uri="{BB962C8B-B14F-4D97-AF65-F5344CB8AC3E}">
        <p14:creationId xmlns:p14="http://schemas.microsoft.com/office/powerpoint/2010/main" val="27067900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242596" y="1269016"/>
            <a:ext cx="6102626" cy="400110"/>
          </a:xfrm>
          <a:prstGeom prst="rect">
            <a:avLst/>
          </a:prstGeom>
          <a:noFill/>
        </p:spPr>
        <p:txBody>
          <a:bodyPr wrap="square">
            <a:spAutoFit/>
          </a:bodyPr>
          <a:lstStyle/>
          <a:p>
            <a:r>
              <a:rPr lang="en-US" sz="2000" b="1" dirty="0">
                <a:solidFill>
                  <a:srgbClr val="213163"/>
                </a:solidFill>
              </a:rPr>
              <a:t>Problem Statement:  </a:t>
            </a:r>
            <a:endParaRPr lang="en-IN" sz="2000" b="1" dirty="0">
              <a:solidFill>
                <a:srgbClr val="213163"/>
              </a:solidFill>
            </a:endParaRPr>
          </a:p>
        </p:txBody>
      </p:sp>
      <p:sp>
        <p:nvSpPr>
          <p:cNvPr id="4" name="TextBox 3">
            <a:extLst>
              <a:ext uri="{FF2B5EF4-FFF2-40B4-BE49-F238E27FC236}">
                <a16:creationId xmlns:a16="http://schemas.microsoft.com/office/drawing/2014/main" id="{31697A08-0BFB-0F28-3A33-5D7672295B68}"/>
              </a:ext>
            </a:extLst>
          </p:cNvPr>
          <p:cNvSpPr txBox="1"/>
          <p:nvPr/>
        </p:nvSpPr>
        <p:spPr>
          <a:xfrm>
            <a:off x="242596" y="2258010"/>
            <a:ext cx="11949403" cy="1938992"/>
          </a:xfrm>
          <a:prstGeom prst="rect">
            <a:avLst/>
          </a:prstGeom>
          <a:noFill/>
        </p:spPr>
        <p:txBody>
          <a:bodyPr wrap="square">
            <a:spAutoFit/>
          </a:bodyPr>
          <a:lstStyle/>
          <a:p>
            <a:pPr algn="just"/>
            <a:r>
              <a:rPr lang="en-US" sz="2000" dirty="0"/>
              <a:t>To evaluate the data and make precise predictions, we employed a machine learning classification model (such as Random Forest) in this project. Using input features, this model aids in pattern recognition and decision-making. Its ability to handle both numerical and categorical data and produce definite results makes it effective. By increasing prediction speed and accuracy, this model makes the system dependable and effective for real-time applications.</a:t>
            </a:r>
            <a:endParaRPr lang="en-IN" sz="2000" dirty="0"/>
          </a:p>
          <a:p>
            <a:pPr algn="just"/>
            <a:endParaRPr lang="en-US" sz="2000" dirty="0"/>
          </a:p>
        </p:txBody>
      </p:sp>
      <p:pic>
        <p:nvPicPr>
          <p:cNvPr id="5" name="Picture 4">
            <a:extLst>
              <a:ext uri="{FF2B5EF4-FFF2-40B4-BE49-F238E27FC236}">
                <a16:creationId xmlns:a16="http://schemas.microsoft.com/office/drawing/2014/main" id="{F2BD8632-1882-532E-F2B5-6B675EA9EA84}"/>
              </a:ext>
            </a:extLst>
          </p:cNvPr>
          <p:cNvPicPr>
            <a:picLocks noChangeAspect="1"/>
          </p:cNvPicPr>
          <p:nvPr/>
        </p:nvPicPr>
        <p:blipFill>
          <a:blip r:embed="rId2"/>
          <a:stretch>
            <a:fillRect/>
          </a:stretch>
        </p:blipFill>
        <p:spPr>
          <a:xfrm>
            <a:off x="8696396" y="-1972"/>
            <a:ext cx="3495604" cy="784292"/>
          </a:xfrm>
          <a:prstGeom prst="rect">
            <a:avLst/>
          </a:prstGeom>
        </p:spPr>
      </p:pic>
    </p:spTree>
    <p:extLst>
      <p:ext uri="{BB962C8B-B14F-4D97-AF65-F5344CB8AC3E}">
        <p14:creationId xmlns:p14="http://schemas.microsoft.com/office/powerpoint/2010/main" val="319659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255104" y="1054412"/>
            <a:ext cx="6102626" cy="400110"/>
          </a:xfrm>
          <a:prstGeom prst="rect">
            <a:avLst/>
          </a:prstGeom>
          <a:noFill/>
        </p:spPr>
        <p:txBody>
          <a:bodyPr wrap="square">
            <a:spAutoFit/>
          </a:bodyPr>
          <a:lstStyle/>
          <a:p>
            <a:r>
              <a:rPr lang="en-US" sz="2000" b="1" dirty="0">
                <a:solidFill>
                  <a:srgbClr val="213163"/>
                </a:solidFill>
              </a:rPr>
              <a:t>Solution:  </a:t>
            </a:r>
            <a:endParaRPr lang="en-IN" sz="2000" b="1" dirty="0">
              <a:solidFill>
                <a:srgbClr val="213163"/>
              </a:solidFill>
            </a:endParaRPr>
          </a:p>
        </p:txBody>
      </p:sp>
      <p:sp>
        <p:nvSpPr>
          <p:cNvPr id="2" name="Rectangle 1">
            <a:extLst>
              <a:ext uri="{FF2B5EF4-FFF2-40B4-BE49-F238E27FC236}">
                <a16:creationId xmlns:a16="http://schemas.microsoft.com/office/drawing/2014/main" id="{67EEFB2D-165B-71AD-E618-A91AA46BAA56}"/>
              </a:ext>
            </a:extLst>
          </p:cNvPr>
          <p:cNvSpPr>
            <a:spLocks noChangeArrowheads="1"/>
          </p:cNvSpPr>
          <p:nvPr/>
        </p:nvSpPr>
        <p:spPr bwMode="auto">
          <a:xfrm>
            <a:off x="550506" y="1704814"/>
            <a:ext cx="9674443"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Used historical EV population data</a:t>
            </a:r>
            <a:r>
              <a:rPr kumimoji="0" lang="en-US" altLang="en-US" sz="1800" b="0" i="0" u="none" strike="noStrike" cap="none" normalizeH="0" baseline="0" dirty="0">
                <a:ln>
                  <a:noFill/>
                </a:ln>
                <a:solidFill>
                  <a:schemeClr val="tx1"/>
                </a:solidFill>
                <a:effectLst/>
                <a:latin typeface="Arial" panose="020B0604020202020204" pitchFamily="34" charset="0"/>
              </a:rPr>
              <a:t> by county to forecast </a:t>
            </a:r>
            <a:r>
              <a:rPr kumimoji="0" lang="en-US" altLang="en-US" sz="1800" b="1" i="0" u="none" strike="noStrike" cap="none" normalizeH="0" baseline="0" dirty="0">
                <a:ln>
                  <a:noFill/>
                </a:ln>
                <a:solidFill>
                  <a:schemeClr val="tx1"/>
                </a:solidFill>
                <a:effectLst/>
                <a:latin typeface="Arial" panose="020B0604020202020204" pitchFamily="34" charset="0"/>
              </a:rPr>
              <a:t>36‑month adoption trends</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Data Preparation:</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Removed outliers, handled missing values, encoded categorical features.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Created time‑series features: lag values, rolling means, growth rates, slopes.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Modeling Approach:</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Tested </a:t>
            </a:r>
            <a:r>
              <a:rPr kumimoji="0" lang="en-US" altLang="en-US" sz="1800" b="1" i="0" u="none" strike="noStrike" cap="none" normalizeH="0" baseline="0" dirty="0">
                <a:ln>
                  <a:noFill/>
                </a:ln>
                <a:solidFill>
                  <a:schemeClr val="tx1"/>
                </a:solidFill>
                <a:effectLst/>
                <a:latin typeface="Arial" panose="020B0604020202020204" pitchFamily="34" charset="0"/>
              </a:rPr>
              <a:t>Random Forest Regressor</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Decision Tree Regressor</a:t>
            </a:r>
            <a:r>
              <a:rPr kumimoji="0" lang="en-US" altLang="en-US" sz="1800" b="0" i="0" u="none" strike="noStrike" cap="none" normalizeH="0" baseline="0" dirty="0">
                <a:ln>
                  <a:noFill/>
                </a:ln>
                <a:solidFill>
                  <a:schemeClr val="tx1"/>
                </a:solidFill>
                <a:effectLst/>
                <a:latin typeface="Arial" panose="020B0604020202020204" pitchFamily="34" charset="0"/>
              </a:rPr>
              <a:t>, and </a:t>
            </a:r>
            <a:r>
              <a:rPr kumimoji="0" lang="en-US" altLang="en-US" sz="1800" b="1" i="0" u="none" strike="noStrike" cap="none" normalizeH="0" baseline="0" dirty="0">
                <a:ln>
                  <a:noFill/>
                </a:ln>
                <a:solidFill>
                  <a:schemeClr val="tx1"/>
                </a:solidFill>
                <a:effectLst/>
                <a:latin typeface="Arial" panose="020B0604020202020204" pitchFamily="34" charset="0"/>
              </a:rPr>
              <a:t>SVR</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Selected </a:t>
            </a:r>
            <a:r>
              <a:rPr kumimoji="0" lang="en-US" altLang="en-US" sz="1800" b="1" i="0" u="none" strike="noStrike" cap="none" normalizeH="0" baseline="0" dirty="0">
                <a:ln>
                  <a:noFill/>
                </a:ln>
                <a:solidFill>
                  <a:schemeClr val="tx1"/>
                </a:solidFill>
                <a:effectLst/>
                <a:latin typeface="Arial" panose="020B0604020202020204" pitchFamily="34" charset="0"/>
              </a:rPr>
              <a:t>Random Forest Regressor</a:t>
            </a:r>
            <a:r>
              <a:rPr kumimoji="0" lang="en-US" altLang="en-US" sz="1800" b="0" i="0" u="none" strike="noStrike" cap="none" normalizeH="0" baseline="0" dirty="0">
                <a:ln>
                  <a:noFill/>
                </a:ln>
                <a:solidFill>
                  <a:schemeClr val="tx1"/>
                </a:solidFill>
                <a:effectLst/>
                <a:latin typeface="Arial" panose="020B0604020202020204" pitchFamily="34" charset="0"/>
              </a:rPr>
              <a:t> for best accuracy after hyperparameter tuning.</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Forecasting:</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Predicted </a:t>
            </a:r>
            <a:r>
              <a:rPr kumimoji="0" lang="en-US" altLang="en-US" sz="1800" b="1" i="0" u="none" strike="noStrike" cap="none" normalizeH="0" baseline="0" dirty="0">
                <a:ln>
                  <a:noFill/>
                </a:ln>
                <a:solidFill>
                  <a:schemeClr val="tx1"/>
                </a:solidFill>
                <a:effectLst/>
                <a:latin typeface="Arial" panose="020B0604020202020204" pitchFamily="34" charset="0"/>
              </a:rPr>
              <a:t>monthly &amp; cumulative EV counts</a:t>
            </a:r>
            <a:r>
              <a:rPr kumimoji="0" lang="en-US" altLang="en-US" sz="1800" b="0" i="0" u="none" strike="noStrike" cap="none" normalizeH="0" baseline="0" dirty="0">
                <a:ln>
                  <a:noFill/>
                </a:ln>
                <a:solidFill>
                  <a:schemeClr val="tx1"/>
                </a:solidFill>
                <a:effectLst/>
                <a:latin typeface="Arial" panose="020B0604020202020204" pitchFamily="34" charset="0"/>
              </a:rPr>
              <a:t> for 3 years ahead.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Identified </a:t>
            </a:r>
            <a:r>
              <a:rPr kumimoji="0" lang="en-US" altLang="en-US" sz="1800" b="1" i="0" u="none" strike="noStrike" cap="none" normalizeH="0" baseline="0" dirty="0">
                <a:ln>
                  <a:noFill/>
                </a:ln>
                <a:solidFill>
                  <a:schemeClr val="tx1"/>
                </a:solidFill>
                <a:effectLst/>
                <a:latin typeface="Arial" panose="020B0604020202020204" pitchFamily="34" charset="0"/>
              </a:rPr>
              <a:t>top 5 counties</a:t>
            </a:r>
            <a:r>
              <a:rPr kumimoji="0" lang="en-US" altLang="en-US" sz="1800" b="0" i="0" u="none" strike="noStrike" cap="none" normalizeH="0" baseline="0" dirty="0">
                <a:ln>
                  <a:noFill/>
                </a:ln>
                <a:solidFill>
                  <a:schemeClr val="tx1"/>
                </a:solidFill>
                <a:effectLst/>
                <a:latin typeface="Arial" panose="020B0604020202020204" pitchFamily="34" charset="0"/>
              </a:rPr>
              <a:t> with highest projected growth.</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800" dirty="0">
              <a:solidFill>
                <a:schemeClr val="tx1"/>
              </a:solidFill>
              <a:latin typeface="Arial" panose="020B0604020202020204" pitchFamily="34" charset="0"/>
            </a:endParaRPr>
          </a:p>
          <a:p>
            <a:pPr lvl="0" eaLnBrk="0" fontAlgn="base" hangingPunct="0">
              <a:spcBef>
                <a:spcPct val="0"/>
              </a:spcBef>
              <a:spcAft>
                <a:spcPct val="0"/>
              </a:spcAft>
              <a:buClrTx/>
            </a:pPr>
            <a:r>
              <a:rPr kumimoji="0" lang="en-US" altLang="en-US" sz="1800" b="1" i="0" u="none" strike="noStrike" cap="none" normalizeH="0" baseline="0" dirty="0">
                <a:ln>
                  <a:noFill/>
                </a:ln>
                <a:solidFill>
                  <a:schemeClr val="tx1"/>
                </a:solidFill>
                <a:effectLst/>
                <a:latin typeface="Arial" panose="020B0604020202020204" pitchFamily="34" charset="0"/>
              </a:rPr>
              <a:t>Git hub </a:t>
            </a:r>
            <a:r>
              <a:rPr lang="en-US" altLang="en-US" sz="1800" b="1" dirty="0">
                <a:solidFill>
                  <a:schemeClr val="tx1"/>
                </a:solidFill>
                <a:latin typeface="Arial" panose="020B0604020202020204" pitchFamily="34" charset="0"/>
              </a:rPr>
              <a:t>repo link </a:t>
            </a:r>
            <a:r>
              <a:rPr lang="en-US" altLang="en-US" sz="1800" dirty="0">
                <a:solidFill>
                  <a:schemeClr val="tx1"/>
                </a:solidFill>
                <a:latin typeface="Arial" panose="020B0604020202020204" pitchFamily="34" charset="0"/>
              </a:rPr>
              <a:t>: https://github.com/JEEVANANTHAM18/EV_Vehicle_Charge_Demand.git</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4" name="Picture 3">
            <a:extLst>
              <a:ext uri="{FF2B5EF4-FFF2-40B4-BE49-F238E27FC236}">
                <a16:creationId xmlns:a16="http://schemas.microsoft.com/office/drawing/2014/main" id="{295FFCD5-E3B4-B4A4-49CE-C09040C4B7D7}"/>
              </a:ext>
            </a:extLst>
          </p:cNvPr>
          <p:cNvPicPr>
            <a:picLocks noChangeAspect="1"/>
          </p:cNvPicPr>
          <p:nvPr/>
        </p:nvPicPr>
        <p:blipFill>
          <a:blip r:embed="rId2"/>
          <a:stretch>
            <a:fillRect/>
          </a:stretch>
        </p:blipFill>
        <p:spPr>
          <a:xfrm>
            <a:off x="8696396" y="-1972"/>
            <a:ext cx="3495604" cy="784292"/>
          </a:xfrm>
          <a:prstGeom prst="rect">
            <a:avLst/>
          </a:prstGeom>
        </p:spPr>
      </p:pic>
    </p:spTree>
    <p:extLst>
      <p:ext uri="{BB962C8B-B14F-4D97-AF65-F5344CB8AC3E}">
        <p14:creationId xmlns:p14="http://schemas.microsoft.com/office/powerpoint/2010/main" val="30029688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255104" y="1054412"/>
            <a:ext cx="6102626" cy="400110"/>
          </a:xfrm>
          <a:prstGeom prst="rect">
            <a:avLst/>
          </a:prstGeom>
          <a:noFill/>
        </p:spPr>
        <p:txBody>
          <a:bodyPr wrap="square">
            <a:spAutoFit/>
          </a:bodyPr>
          <a:lstStyle/>
          <a:p>
            <a:r>
              <a:rPr lang="en-US" sz="2000" b="1" dirty="0">
                <a:solidFill>
                  <a:srgbClr val="213163"/>
                </a:solidFill>
              </a:rPr>
              <a:t>Screenshot of Output:  </a:t>
            </a:r>
            <a:endParaRPr lang="en-IN" sz="2000" b="1" dirty="0">
              <a:solidFill>
                <a:srgbClr val="213163"/>
              </a:solidFill>
            </a:endParaRPr>
          </a:p>
        </p:txBody>
      </p:sp>
      <p:pic>
        <p:nvPicPr>
          <p:cNvPr id="4" name="Picture 3">
            <a:extLst>
              <a:ext uri="{FF2B5EF4-FFF2-40B4-BE49-F238E27FC236}">
                <a16:creationId xmlns:a16="http://schemas.microsoft.com/office/drawing/2014/main" id="{B6A48BAC-8CAC-6F47-7DD8-C4719202F912}"/>
              </a:ext>
            </a:extLst>
          </p:cNvPr>
          <p:cNvPicPr>
            <a:picLocks noChangeAspect="1"/>
          </p:cNvPicPr>
          <p:nvPr/>
        </p:nvPicPr>
        <p:blipFill>
          <a:blip r:embed="rId2"/>
          <a:stretch>
            <a:fillRect/>
          </a:stretch>
        </p:blipFill>
        <p:spPr>
          <a:xfrm>
            <a:off x="6848633" y="1800808"/>
            <a:ext cx="5260346" cy="4376057"/>
          </a:xfrm>
          <a:prstGeom prst="rect">
            <a:avLst/>
          </a:prstGeom>
        </p:spPr>
      </p:pic>
      <p:pic>
        <p:nvPicPr>
          <p:cNvPr id="6" name="Picture 5">
            <a:extLst>
              <a:ext uri="{FF2B5EF4-FFF2-40B4-BE49-F238E27FC236}">
                <a16:creationId xmlns:a16="http://schemas.microsoft.com/office/drawing/2014/main" id="{B366B1DB-0083-E138-E1E1-6B4F95F8378A}"/>
              </a:ext>
            </a:extLst>
          </p:cNvPr>
          <p:cNvPicPr>
            <a:picLocks noChangeAspect="1"/>
          </p:cNvPicPr>
          <p:nvPr/>
        </p:nvPicPr>
        <p:blipFill>
          <a:blip r:embed="rId3"/>
          <a:stretch>
            <a:fillRect/>
          </a:stretch>
        </p:blipFill>
        <p:spPr>
          <a:xfrm>
            <a:off x="271806" y="1800808"/>
            <a:ext cx="6576827" cy="4376057"/>
          </a:xfrm>
          <a:prstGeom prst="rect">
            <a:avLst/>
          </a:prstGeom>
        </p:spPr>
      </p:pic>
      <p:pic>
        <p:nvPicPr>
          <p:cNvPr id="2" name="Picture 1">
            <a:extLst>
              <a:ext uri="{FF2B5EF4-FFF2-40B4-BE49-F238E27FC236}">
                <a16:creationId xmlns:a16="http://schemas.microsoft.com/office/drawing/2014/main" id="{8543855D-C1E8-A904-7D2E-A99F6B340D15}"/>
              </a:ext>
            </a:extLst>
          </p:cNvPr>
          <p:cNvPicPr>
            <a:picLocks noChangeAspect="1"/>
          </p:cNvPicPr>
          <p:nvPr/>
        </p:nvPicPr>
        <p:blipFill>
          <a:blip r:embed="rId4"/>
          <a:stretch>
            <a:fillRect/>
          </a:stretch>
        </p:blipFill>
        <p:spPr>
          <a:xfrm>
            <a:off x="8696396" y="-1972"/>
            <a:ext cx="3495604" cy="784292"/>
          </a:xfrm>
          <a:prstGeom prst="rect">
            <a:avLst/>
          </a:prstGeom>
        </p:spPr>
      </p:pic>
    </p:spTree>
    <p:extLst>
      <p:ext uri="{BB962C8B-B14F-4D97-AF65-F5344CB8AC3E}">
        <p14:creationId xmlns:p14="http://schemas.microsoft.com/office/powerpoint/2010/main" val="16359494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F63A0E-8C11-A7E9-FF70-A97D90ED2F7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09CB87F-CFA9-11B3-3AD9-9C16D8979B74}"/>
              </a:ext>
            </a:extLst>
          </p:cNvPr>
          <p:cNvSpPr txBox="1"/>
          <p:nvPr/>
        </p:nvSpPr>
        <p:spPr>
          <a:xfrm>
            <a:off x="255104" y="1054412"/>
            <a:ext cx="6102626" cy="400110"/>
          </a:xfrm>
          <a:prstGeom prst="rect">
            <a:avLst/>
          </a:prstGeom>
          <a:noFill/>
        </p:spPr>
        <p:txBody>
          <a:bodyPr wrap="square">
            <a:spAutoFit/>
          </a:bodyPr>
          <a:lstStyle/>
          <a:p>
            <a:r>
              <a:rPr lang="en-US" sz="2000" b="1" dirty="0">
                <a:solidFill>
                  <a:srgbClr val="213163"/>
                </a:solidFill>
              </a:rPr>
              <a:t>Screenshot of Output:  </a:t>
            </a:r>
            <a:endParaRPr lang="en-IN" sz="2000" b="1" dirty="0">
              <a:solidFill>
                <a:srgbClr val="213163"/>
              </a:solidFill>
            </a:endParaRPr>
          </a:p>
        </p:txBody>
      </p:sp>
      <p:pic>
        <p:nvPicPr>
          <p:cNvPr id="2" name="Picture 1">
            <a:extLst>
              <a:ext uri="{FF2B5EF4-FFF2-40B4-BE49-F238E27FC236}">
                <a16:creationId xmlns:a16="http://schemas.microsoft.com/office/drawing/2014/main" id="{A41168EA-2030-1EB7-0D4B-723017ACFAD2}"/>
              </a:ext>
            </a:extLst>
          </p:cNvPr>
          <p:cNvPicPr>
            <a:picLocks noChangeAspect="1"/>
          </p:cNvPicPr>
          <p:nvPr/>
        </p:nvPicPr>
        <p:blipFill>
          <a:blip r:embed="rId2"/>
          <a:stretch>
            <a:fillRect/>
          </a:stretch>
        </p:blipFill>
        <p:spPr>
          <a:xfrm>
            <a:off x="2099387" y="1507495"/>
            <a:ext cx="7673775" cy="5227502"/>
          </a:xfrm>
          <a:prstGeom prst="rect">
            <a:avLst/>
          </a:prstGeom>
        </p:spPr>
      </p:pic>
      <p:pic>
        <p:nvPicPr>
          <p:cNvPr id="4" name="Picture 3">
            <a:extLst>
              <a:ext uri="{FF2B5EF4-FFF2-40B4-BE49-F238E27FC236}">
                <a16:creationId xmlns:a16="http://schemas.microsoft.com/office/drawing/2014/main" id="{E353FA49-9EE4-5C07-168F-A63435C1B29D}"/>
              </a:ext>
            </a:extLst>
          </p:cNvPr>
          <p:cNvPicPr>
            <a:picLocks noChangeAspect="1"/>
          </p:cNvPicPr>
          <p:nvPr/>
        </p:nvPicPr>
        <p:blipFill>
          <a:blip r:embed="rId3"/>
          <a:stretch>
            <a:fillRect/>
          </a:stretch>
        </p:blipFill>
        <p:spPr>
          <a:xfrm>
            <a:off x="8696396" y="-1972"/>
            <a:ext cx="3495604" cy="784292"/>
          </a:xfrm>
          <a:prstGeom prst="rect">
            <a:avLst/>
          </a:prstGeom>
        </p:spPr>
      </p:pic>
    </p:spTree>
    <p:extLst>
      <p:ext uri="{BB962C8B-B14F-4D97-AF65-F5344CB8AC3E}">
        <p14:creationId xmlns:p14="http://schemas.microsoft.com/office/powerpoint/2010/main" val="30936701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8BBCF9-9287-2F4F-15AA-45E593F077C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6433264-2976-8D01-10F2-5D7D619FAF01}"/>
              </a:ext>
            </a:extLst>
          </p:cNvPr>
          <p:cNvSpPr txBox="1"/>
          <p:nvPr/>
        </p:nvSpPr>
        <p:spPr>
          <a:xfrm>
            <a:off x="255104" y="1054412"/>
            <a:ext cx="6102626" cy="400110"/>
          </a:xfrm>
          <a:prstGeom prst="rect">
            <a:avLst/>
          </a:prstGeom>
          <a:noFill/>
        </p:spPr>
        <p:txBody>
          <a:bodyPr wrap="square">
            <a:spAutoFit/>
          </a:bodyPr>
          <a:lstStyle/>
          <a:p>
            <a:r>
              <a:rPr lang="en-US" sz="2000" b="1" dirty="0">
                <a:solidFill>
                  <a:srgbClr val="213163"/>
                </a:solidFill>
              </a:rPr>
              <a:t>Screenshot of Output:  </a:t>
            </a:r>
            <a:endParaRPr lang="en-IN" sz="2000" b="1" dirty="0">
              <a:solidFill>
                <a:srgbClr val="213163"/>
              </a:solidFill>
            </a:endParaRPr>
          </a:p>
        </p:txBody>
      </p:sp>
      <p:pic>
        <p:nvPicPr>
          <p:cNvPr id="7" name="Picture 6">
            <a:extLst>
              <a:ext uri="{FF2B5EF4-FFF2-40B4-BE49-F238E27FC236}">
                <a16:creationId xmlns:a16="http://schemas.microsoft.com/office/drawing/2014/main" id="{E94954A3-7032-1D87-8B67-CE436615BE1E}"/>
              </a:ext>
            </a:extLst>
          </p:cNvPr>
          <p:cNvPicPr>
            <a:picLocks noChangeAspect="1"/>
          </p:cNvPicPr>
          <p:nvPr/>
        </p:nvPicPr>
        <p:blipFill>
          <a:blip r:embed="rId2"/>
          <a:stretch>
            <a:fillRect/>
          </a:stretch>
        </p:blipFill>
        <p:spPr>
          <a:xfrm>
            <a:off x="1212980" y="1468213"/>
            <a:ext cx="10078997" cy="5389788"/>
          </a:xfrm>
          <a:prstGeom prst="rect">
            <a:avLst/>
          </a:prstGeom>
        </p:spPr>
      </p:pic>
      <p:pic>
        <p:nvPicPr>
          <p:cNvPr id="2" name="Picture 1">
            <a:extLst>
              <a:ext uri="{FF2B5EF4-FFF2-40B4-BE49-F238E27FC236}">
                <a16:creationId xmlns:a16="http://schemas.microsoft.com/office/drawing/2014/main" id="{7B2B35B2-BBFD-ADE7-526D-93831342F67D}"/>
              </a:ext>
            </a:extLst>
          </p:cNvPr>
          <p:cNvPicPr>
            <a:picLocks noChangeAspect="1"/>
          </p:cNvPicPr>
          <p:nvPr/>
        </p:nvPicPr>
        <p:blipFill>
          <a:blip r:embed="rId3"/>
          <a:stretch>
            <a:fillRect/>
          </a:stretch>
        </p:blipFill>
        <p:spPr>
          <a:xfrm>
            <a:off x="8696396" y="-1972"/>
            <a:ext cx="3495604" cy="784292"/>
          </a:xfrm>
          <a:prstGeom prst="rect">
            <a:avLst/>
          </a:prstGeom>
        </p:spPr>
      </p:pic>
    </p:spTree>
    <p:extLst>
      <p:ext uri="{BB962C8B-B14F-4D97-AF65-F5344CB8AC3E}">
        <p14:creationId xmlns:p14="http://schemas.microsoft.com/office/powerpoint/2010/main" val="22728577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4317A4-E347-D447-6F0A-0ACB981C0CB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1EF3C75-9594-EC0B-D3E2-55D476744119}"/>
              </a:ext>
            </a:extLst>
          </p:cNvPr>
          <p:cNvSpPr txBox="1"/>
          <p:nvPr/>
        </p:nvSpPr>
        <p:spPr>
          <a:xfrm>
            <a:off x="255104" y="1054412"/>
            <a:ext cx="6102626" cy="400110"/>
          </a:xfrm>
          <a:prstGeom prst="rect">
            <a:avLst/>
          </a:prstGeom>
          <a:noFill/>
        </p:spPr>
        <p:txBody>
          <a:bodyPr wrap="square">
            <a:spAutoFit/>
          </a:bodyPr>
          <a:lstStyle/>
          <a:p>
            <a:r>
              <a:rPr lang="en-US" sz="2000" b="1" dirty="0">
                <a:solidFill>
                  <a:srgbClr val="213163"/>
                </a:solidFill>
              </a:rPr>
              <a:t>Screenshot of Output:  </a:t>
            </a:r>
            <a:endParaRPr lang="en-IN" sz="2000" b="1" dirty="0">
              <a:solidFill>
                <a:srgbClr val="213163"/>
              </a:solidFill>
            </a:endParaRPr>
          </a:p>
        </p:txBody>
      </p:sp>
      <p:pic>
        <p:nvPicPr>
          <p:cNvPr id="5" name="Picture 4">
            <a:extLst>
              <a:ext uri="{FF2B5EF4-FFF2-40B4-BE49-F238E27FC236}">
                <a16:creationId xmlns:a16="http://schemas.microsoft.com/office/drawing/2014/main" id="{113ECFFB-6CA1-0F33-15DB-76408AF5BB72}"/>
              </a:ext>
            </a:extLst>
          </p:cNvPr>
          <p:cNvPicPr>
            <a:picLocks noChangeAspect="1"/>
          </p:cNvPicPr>
          <p:nvPr/>
        </p:nvPicPr>
        <p:blipFill>
          <a:blip r:embed="rId2"/>
          <a:stretch>
            <a:fillRect/>
          </a:stretch>
        </p:blipFill>
        <p:spPr>
          <a:xfrm>
            <a:off x="1428118" y="1454522"/>
            <a:ext cx="9859223" cy="5410549"/>
          </a:xfrm>
          <a:prstGeom prst="rect">
            <a:avLst/>
          </a:prstGeom>
        </p:spPr>
      </p:pic>
      <p:pic>
        <p:nvPicPr>
          <p:cNvPr id="2" name="Picture 1">
            <a:extLst>
              <a:ext uri="{FF2B5EF4-FFF2-40B4-BE49-F238E27FC236}">
                <a16:creationId xmlns:a16="http://schemas.microsoft.com/office/drawing/2014/main" id="{BFF1C331-0AB3-3FF6-C828-BA61786F1C80}"/>
              </a:ext>
            </a:extLst>
          </p:cNvPr>
          <p:cNvPicPr>
            <a:picLocks noChangeAspect="1"/>
          </p:cNvPicPr>
          <p:nvPr/>
        </p:nvPicPr>
        <p:blipFill>
          <a:blip r:embed="rId3"/>
          <a:stretch>
            <a:fillRect/>
          </a:stretch>
        </p:blipFill>
        <p:spPr>
          <a:xfrm>
            <a:off x="8696396" y="-1972"/>
            <a:ext cx="3495604" cy="784292"/>
          </a:xfrm>
          <a:prstGeom prst="rect">
            <a:avLst/>
          </a:prstGeom>
        </p:spPr>
      </p:pic>
    </p:spTree>
    <p:extLst>
      <p:ext uri="{BB962C8B-B14F-4D97-AF65-F5344CB8AC3E}">
        <p14:creationId xmlns:p14="http://schemas.microsoft.com/office/powerpoint/2010/main" val="26420879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D7F9BB-F238-5609-FD06-ED80C7D2552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4BA11F6-B60A-7866-913C-5C734064FDB4}"/>
              </a:ext>
            </a:extLst>
          </p:cNvPr>
          <p:cNvSpPr txBox="1"/>
          <p:nvPr/>
        </p:nvSpPr>
        <p:spPr>
          <a:xfrm>
            <a:off x="255104" y="1054412"/>
            <a:ext cx="6102626" cy="400110"/>
          </a:xfrm>
          <a:prstGeom prst="rect">
            <a:avLst/>
          </a:prstGeom>
          <a:noFill/>
        </p:spPr>
        <p:txBody>
          <a:bodyPr wrap="square">
            <a:spAutoFit/>
          </a:bodyPr>
          <a:lstStyle/>
          <a:p>
            <a:r>
              <a:rPr lang="en-US" sz="2000" b="1" dirty="0">
                <a:solidFill>
                  <a:srgbClr val="213163"/>
                </a:solidFill>
              </a:rPr>
              <a:t>Screenshot of Output:  </a:t>
            </a:r>
            <a:endParaRPr lang="en-IN" sz="2000" b="1" dirty="0">
              <a:solidFill>
                <a:srgbClr val="213163"/>
              </a:solidFill>
            </a:endParaRPr>
          </a:p>
        </p:txBody>
      </p:sp>
      <p:pic>
        <p:nvPicPr>
          <p:cNvPr id="4" name="Picture 3">
            <a:extLst>
              <a:ext uri="{FF2B5EF4-FFF2-40B4-BE49-F238E27FC236}">
                <a16:creationId xmlns:a16="http://schemas.microsoft.com/office/drawing/2014/main" id="{601A354B-35AA-A4D3-CE0E-80B7BD1E4723}"/>
              </a:ext>
            </a:extLst>
          </p:cNvPr>
          <p:cNvPicPr>
            <a:picLocks noChangeAspect="1"/>
          </p:cNvPicPr>
          <p:nvPr/>
        </p:nvPicPr>
        <p:blipFill>
          <a:blip r:embed="rId2"/>
          <a:stretch>
            <a:fillRect/>
          </a:stretch>
        </p:blipFill>
        <p:spPr>
          <a:xfrm>
            <a:off x="1320630" y="1632857"/>
            <a:ext cx="10074200" cy="5062061"/>
          </a:xfrm>
          <a:prstGeom prst="rect">
            <a:avLst/>
          </a:prstGeom>
        </p:spPr>
      </p:pic>
      <p:pic>
        <p:nvPicPr>
          <p:cNvPr id="2" name="Picture 1">
            <a:extLst>
              <a:ext uri="{FF2B5EF4-FFF2-40B4-BE49-F238E27FC236}">
                <a16:creationId xmlns:a16="http://schemas.microsoft.com/office/drawing/2014/main" id="{33D4946B-AD1D-423E-AB4F-397201607FE9}"/>
              </a:ext>
            </a:extLst>
          </p:cNvPr>
          <p:cNvPicPr>
            <a:picLocks noChangeAspect="1"/>
          </p:cNvPicPr>
          <p:nvPr/>
        </p:nvPicPr>
        <p:blipFill>
          <a:blip r:embed="rId3"/>
          <a:stretch>
            <a:fillRect/>
          </a:stretch>
        </p:blipFill>
        <p:spPr>
          <a:xfrm>
            <a:off x="8696396" y="-1972"/>
            <a:ext cx="3495604" cy="784292"/>
          </a:xfrm>
          <a:prstGeom prst="rect">
            <a:avLst/>
          </a:prstGeom>
        </p:spPr>
      </p:pic>
    </p:spTree>
    <p:extLst>
      <p:ext uri="{BB962C8B-B14F-4D97-AF65-F5344CB8AC3E}">
        <p14:creationId xmlns:p14="http://schemas.microsoft.com/office/powerpoint/2010/main" val="38086630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C35C45-048B-E81E-33D8-6443EBCD7DE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2FB1B31-66F4-61CE-E52C-559B744936DC}"/>
              </a:ext>
            </a:extLst>
          </p:cNvPr>
          <p:cNvSpPr txBox="1"/>
          <p:nvPr/>
        </p:nvSpPr>
        <p:spPr>
          <a:xfrm>
            <a:off x="255104" y="1054412"/>
            <a:ext cx="6102626" cy="400110"/>
          </a:xfrm>
          <a:prstGeom prst="rect">
            <a:avLst/>
          </a:prstGeom>
          <a:noFill/>
        </p:spPr>
        <p:txBody>
          <a:bodyPr wrap="square">
            <a:spAutoFit/>
          </a:bodyPr>
          <a:lstStyle/>
          <a:p>
            <a:r>
              <a:rPr lang="en-US" sz="2000" b="1" dirty="0">
                <a:solidFill>
                  <a:srgbClr val="213163"/>
                </a:solidFill>
              </a:rPr>
              <a:t>Screenshot of Output:  </a:t>
            </a:r>
            <a:endParaRPr lang="en-IN" sz="2000" b="1" dirty="0">
              <a:solidFill>
                <a:srgbClr val="213163"/>
              </a:solidFill>
            </a:endParaRPr>
          </a:p>
        </p:txBody>
      </p:sp>
      <p:pic>
        <p:nvPicPr>
          <p:cNvPr id="5" name="Picture 4">
            <a:extLst>
              <a:ext uri="{FF2B5EF4-FFF2-40B4-BE49-F238E27FC236}">
                <a16:creationId xmlns:a16="http://schemas.microsoft.com/office/drawing/2014/main" id="{C73D69B7-F5DD-CB51-AA76-EFA36E01864F}"/>
              </a:ext>
            </a:extLst>
          </p:cNvPr>
          <p:cNvPicPr>
            <a:picLocks noChangeAspect="1"/>
          </p:cNvPicPr>
          <p:nvPr/>
        </p:nvPicPr>
        <p:blipFill>
          <a:blip r:embed="rId2"/>
          <a:stretch>
            <a:fillRect/>
          </a:stretch>
        </p:blipFill>
        <p:spPr>
          <a:xfrm>
            <a:off x="1015674" y="1716834"/>
            <a:ext cx="9989182" cy="4918992"/>
          </a:xfrm>
          <a:prstGeom prst="rect">
            <a:avLst/>
          </a:prstGeom>
        </p:spPr>
      </p:pic>
      <p:pic>
        <p:nvPicPr>
          <p:cNvPr id="2" name="Picture 1">
            <a:extLst>
              <a:ext uri="{FF2B5EF4-FFF2-40B4-BE49-F238E27FC236}">
                <a16:creationId xmlns:a16="http://schemas.microsoft.com/office/drawing/2014/main" id="{DA9ECBE8-2D93-5749-9EC0-E2F790A30212}"/>
              </a:ext>
            </a:extLst>
          </p:cNvPr>
          <p:cNvPicPr>
            <a:picLocks noChangeAspect="1"/>
          </p:cNvPicPr>
          <p:nvPr/>
        </p:nvPicPr>
        <p:blipFill>
          <a:blip r:embed="rId3"/>
          <a:stretch>
            <a:fillRect/>
          </a:stretch>
        </p:blipFill>
        <p:spPr>
          <a:xfrm>
            <a:off x="8696396" y="-1972"/>
            <a:ext cx="3495604" cy="784292"/>
          </a:xfrm>
          <a:prstGeom prst="rect">
            <a:avLst/>
          </a:prstGeom>
        </p:spPr>
      </p:pic>
    </p:spTree>
    <p:extLst>
      <p:ext uri="{BB962C8B-B14F-4D97-AF65-F5344CB8AC3E}">
        <p14:creationId xmlns:p14="http://schemas.microsoft.com/office/powerpoint/2010/main" val="241204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6E07F8-694B-679D-2A3F-FEFDFB01B6D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96941F6-7069-5150-24F9-F0D1E0177063}"/>
              </a:ext>
            </a:extLst>
          </p:cNvPr>
          <p:cNvSpPr txBox="1"/>
          <p:nvPr/>
        </p:nvSpPr>
        <p:spPr>
          <a:xfrm>
            <a:off x="255104" y="1054412"/>
            <a:ext cx="6102626" cy="400110"/>
          </a:xfrm>
          <a:prstGeom prst="rect">
            <a:avLst/>
          </a:prstGeom>
          <a:noFill/>
        </p:spPr>
        <p:txBody>
          <a:bodyPr wrap="square">
            <a:spAutoFit/>
          </a:bodyPr>
          <a:lstStyle/>
          <a:p>
            <a:r>
              <a:rPr lang="en-US" sz="2000" b="1" dirty="0">
                <a:solidFill>
                  <a:srgbClr val="213163"/>
                </a:solidFill>
              </a:rPr>
              <a:t>Screenshot of Output:  </a:t>
            </a:r>
            <a:endParaRPr lang="en-IN" sz="2000" b="1" dirty="0">
              <a:solidFill>
                <a:srgbClr val="213163"/>
              </a:solidFill>
            </a:endParaRPr>
          </a:p>
        </p:txBody>
      </p:sp>
      <p:pic>
        <p:nvPicPr>
          <p:cNvPr id="4" name="Picture 3">
            <a:extLst>
              <a:ext uri="{FF2B5EF4-FFF2-40B4-BE49-F238E27FC236}">
                <a16:creationId xmlns:a16="http://schemas.microsoft.com/office/drawing/2014/main" id="{5DABDF93-4DB7-7F7C-02C3-F18142827905}"/>
              </a:ext>
            </a:extLst>
          </p:cNvPr>
          <p:cNvPicPr>
            <a:picLocks noChangeAspect="1"/>
          </p:cNvPicPr>
          <p:nvPr/>
        </p:nvPicPr>
        <p:blipFill>
          <a:blip r:embed="rId2"/>
          <a:stretch>
            <a:fillRect/>
          </a:stretch>
        </p:blipFill>
        <p:spPr>
          <a:xfrm>
            <a:off x="516361" y="1454522"/>
            <a:ext cx="10983858" cy="5382376"/>
          </a:xfrm>
          <a:prstGeom prst="rect">
            <a:avLst/>
          </a:prstGeom>
        </p:spPr>
      </p:pic>
      <p:pic>
        <p:nvPicPr>
          <p:cNvPr id="2" name="Picture 1">
            <a:extLst>
              <a:ext uri="{FF2B5EF4-FFF2-40B4-BE49-F238E27FC236}">
                <a16:creationId xmlns:a16="http://schemas.microsoft.com/office/drawing/2014/main" id="{9A1C8AB4-E9F8-EA97-A1E0-49F4019619BD}"/>
              </a:ext>
            </a:extLst>
          </p:cNvPr>
          <p:cNvPicPr>
            <a:picLocks noChangeAspect="1"/>
          </p:cNvPicPr>
          <p:nvPr/>
        </p:nvPicPr>
        <p:blipFill>
          <a:blip r:embed="rId3"/>
          <a:stretch>
            <a:fillRect/>
          </a:stretch>
        </p:blipFill>
        <p:spPr>
          <a:xfrm>
            <a:off x="8696396" y="-1972"/>
            <a:ext cx="3495604" cy="784292"/>
          </a:xfrm>
          <a:prstGeom prst="rect">
            <a:avLst/>
          </a:prstGeom>
        </p:spPr>
      </p:pic>
    </p:spTree>
    <p:extLst>
      <p:ext uri="{BB962C8B-B14F-4D97-AF65-F5344CB8AC3E}">
        <p14:creationId xmlns:p14="http://schemas.microsoft.com/office/powerpoint/2010/main" val="5574030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9639CC-3437-738C-81BA-CC7BCB5A415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8277280-4C7A-FE18-6CCE-1A4FA9E12BB4}"/>
              </a:ext>
            </a:extLst>
          </p:cNvPr>
          <p:cNvSpPr txBox="1"/>
          <p:nvPr/>
        </p:nvSpPr>
        <p:spPr>
          <a:xfrm>
            <a:off x="255104" y="1054412"/>
            <a:ext cx="6102626" cy="400110"/>
          </a:xfrm>
          <a:prstGeom prst="rect">
            <a:avLst/>
          </a:prstGeom>
          <a:noFill/>
        </p:spPr>
        <p:txBody>
          <a:bodyPr wrap="square">
            <a:spAutoFit/>
          </a:bodyPr>
          <a:lstStyle/>
          <a:p>
            <a:r>
              <a:rPr lang="en-US" sz="2000" b="1" dirty="0">
                <a:solidFill>
                  <a:srgbClr val="213163"/>
                </a:solidFill>
              </a:rPr>
              <a:t>Screenshot of Output:  </a:t>
            </a:r>
            <a:endParaRPr lang="en-IN" sz="2000" b="1" dirty="0">
              <a:solidFill>
                <a:srgbClr val="213163"/>
              </a:solidFill>
            </a:endParaRPr>
          </a:p>
        </p:txBody>
      </p:sp>
      <p:pic>
        <p:nvPicPr>
          <p:cNvPr id="5" name="Picture 4">
            <a:extLst>
              <a:ext uri="{FF2B5EF4-FFF2-40B4-BE49-F238E27FC236}">
                <a16:creationId xmlns:a16="http://schemas.microsoft.com/office/drawing/2014/main" id="{85919636-C264-DC61-4567-4C7A7F8ABE28}"/>
              </a:ext>
            </a:extLst>
          </p:cNvPr>
          <p:cNvPicPr>
            <a:picLocks noChangeAspect="1"/>
          </p:cNvPicPr>
          <p:nvPr/>
        </p:nvPicPr>
        <p:blipFill>
          <a:blip r:embed="rId2"/>
          <a:stretch>
            <a:fillRect/>
          </a:stretch>
        </p:blipFill>
        <p:spPr>
          <a:xfrm>
            <a:off x="1022174" y="2311100"/>
            <a:ext cx="10334264" cy="3492488"/>
          </a:xfrm>
          <a:prstGeom prst="rect">
            <a:avLst/>
          </a:prstGeom>
        </p:spPr>
      </p:pic>
      <p:pic>
        <p:nvPicPr>
          <p:cNvPr id="2" name="Picture 1">
            <a:extLst>
              <a:ext uri="{FF2B5EF4-FFF2-40B4-BE49-F238E27FC236}">
                <a16:creationId xmlns:a16="http://schemas.microsoft.com/office/drawing/2014/main" id="{D48F2F55-2AEA-87A6-CD52-CA175E52ADD0}"/>
              </a:ext>
            </a:extLst>
          </p:cNvPr>
          <p:cNvPicPr>
            <a:picLocks noChangeAspect="1"/>
          </p:cNvPicPr>
          <p:nvPr/>
        </p:nvPicPr>
        <p:blipFill>
          <a:blip r:embed="rId3"/>
          <a:stretch>
            <a:fillRect/>
          </a:stretch>
        </p:blipFill>
        <p:spPr>
          <a:xfrm>
            <a:off x="8696396" y="-1972"/>
            <a:ext cx="3495604" cy="784292"/>
          </a:xfrm>
          <a:prstGeom prst="rect">
            <a:avLst/>
          </a:prstGeom>
        </p:spPr>
      </p:pic>
    </p:spTree>
    <p:extLst>
      <p:ext uri="{BB962C8B-B14F-4D97-AF65-F5344CB8AC3E}">
        <p14:creationId xmlns:p14="http://schemas.microsoft.com/office/powerpoint/2010/main" val="30195894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149087" y="988151"/>
            <a:ext cx="6102626" cy="400110"/>
          </a:xfrm>
          <a:prstGeom prst="rect">
            <a:avLst/>
          </a:prstGeom>
          <a:noFill/>
        </p:spPr>
        <p:txBody>
          <a:bodyPr wrap="square">
            <a:spAutoFit/>
          </a:bodyPr>
          <a:lstStyle/>
          <a:p>
            <a:r>
              <a:rPr lang="en-US" sz="2000" b="1" dirty="0">
                <a:solidFill>
                  <a:srgbClr val="213163"/>
                </a:solidFill>
              </a:rPr>
              <a:t>Conclusion:</a:t>
            </a:r>
            <a:r>
              <a:rPr lang="en-US" sz="1800" b="1" dirty="0">
                <a:solidFill>
                  <a:srgbClr val="213163"/>
                </a:solidFill>
              </a:rPr>
              <a:t>  </a:t>
            </a:r>
            <a:endParaRPr lang="en-IN" sz="1800" dirty="0">
              <a:solidFill>
                <a:srgbClr val="213163"/>
              </a:solidFill>
            </a:endParaRPr>
          </a:p>
        </p:txBody>
      </p:sp>
      <p:sp>
        <p:nvSpPr>
          <p:cNvPr id="4" name="TextBox 3">
            <a:extLst>
              <a:ext uri="{FF2B5EF4-FFF2-40B4-BE49-F238E27FC236}">
                <a16:creationId xmlns:a16="http://schemas.microsoft.com/office/drawing/2014/main" id="{2E7AC8AB-41C8-1B6F-A691-21B6BE0CD627}"/>
              </a:ext>
            </a:extLst>
          </p:cNvPr>
          <p:cNvSpPr txBox="1"/>
          <p:nvPr/>
        </p:nvSpPr>
        <p:spPr>
          <a:xfrm>
            <a:off x="466530" y="1670180"/>
            <a:ext cx="10500049" cy="1918539"/>
          </a:xfrm>
          <a:prstGeom prst="rect">
            <a:avLst/>
          </a:prstGeom>
          <a:noFill/>
        </p:spPr>
        <p:txBody>
          <a:bodyPr wrap="square">
            <a:spAutoFit/>
          </a:bodyPr>
          <a:lstStyle/>
          <a:p>
            <a:pPr algn="just"/>
            <a:r>
              <a:rPr lang="en-US" sz="2000" dirty="0"/>
              <a:t>The project effectively used Random Forest to forecast EV adoption trends. With proper feature engineering and model tuning, accurate predictions were achieved. These insights can help in planning sustainable transport strategies and support EV infrastructure growth.</a:t>
            </a:r>
          </a:p>
          <a:p>
            <a:pPr algn="just"/>
            <a:r>
              <a:rPr lang="en-US" sz="2000" dirty="0"/>
              <a:t>It supports sustainable mobility growth and prepares cities for </a:t>
            </a:r>
            <a:r>
              <a:rPr lang="en-US" sz="2000" b="1" dirty="0"/>
              <a:t>future transportation needs</a:t>
            </a:r>
            <a:r>
              <a:rPr lang="en-US" sz="2000" dirty="0"/>
              <a:t>.</a:t>
            </a:r>
          </a:p>
          <a:p>
            <a:pPr algn="just"/>
            <a:endParaRPr lang="en-US" dirty="0"/>
          </a:p>
        </p:txBody>
      </p:sp>
      <p:pic>
        <p:nvPicPr>
          <p:cNvPr id="2" name="Picture 1">
            <a:extLst>
              <a:ext uri="{FF2B5EF4-FFF2-40B4-BE49-F238E27FC236}">
                <a16:creationId xmlns:a16="http://schemas.microsoft.com/office/drawing/2014/main" id="{E45FB991-857B-F004-71BD-7D7768BF0DAC}"/>
              </a:ext>
            </a:extLst>
          </p:cNvPr>
          <p:cNvPicPr>
            <a:picLocks noChangeAspect="1"/>
          </p:cNvPicPr>
          <p:nvPr/>
        </p:nvPicPr>
        <p:blipFill>
          <a:blip r:embed="rId2"/>
          <a:stretch>
            <a:fillRect/>
          </a:stretch>
        </p:blipFill>
        <p:spPr>
          <a:xfrm>
            <a:off x="8696396" y="-1972"/>
            <a:ext cx="3495604" cy="784292"/>
          </a:xfrm>
          <a:prstGeom prst="rect">
            <a:avLst/>
          </a:prstGeom>
        </p:spPr>
      </p:pic>
    </p:spTree>
    <p:extLst>
      <p:ext uri="{BB962C8B-B14F-4D97-AF65-F5344CB8AC3E}">
        <p14:creationId xmlns:p14="http://schemas.microsoft.com/office/powerpoint/2010/main" val="151988358"/>
      </p:ext>
    </p:extLst>
  </p:cSld>
  <p:clrMapOvr>
    <a:masterClrMapping/>
  </p:clrMapOvr>
</p:sld>
</file>

<file path=ppt/theme/theme1.xml><?xml version="1.0" encoding="utf-8"?>
<a:theme xmlns:a="http://schemas.openxmlformats.org/drawingml/2006/main" name="Session 01 Design Thinking &amp; Critical Thinking">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Session 01 Design Thinking &amp; Critical Thinking" id="{1DE73F69-F87A-4ED3-81C1-82D2BA622E0C}" vid="{37568650-F724-47C7-905E-9640F8017497}"/>
    </a:ext>
  </a:extLst>
</a:theme>
</file>

<file path=docProps/app.xml><?xml version="1.0" encoding="utf-8"?>
<Properties xmlns="http://schemas.openxmlformats.org/officeDocument/2006/extended-properties" xmlns:vt="http://schemas.openxmlformats.org/officeDocument/2006/docPropsVTypes">
  <Template>Session 01 Design Thinking &amp; Critical Thinking</Template>
  <TotalTime>234</TotalTime>
  <Words>471</Words>
  <Application>Microsoft Office PowerPoint</Application>
  <PresentationFormat>Widescreen</PresentationFormat>
  <Paragraphs>70</Paragraphs>
  <Slides>15</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Session 01 Design Thinking &amp; Critical Thinking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Mahesh Kurhe</dc:creator>
  <cp:lastModifiedBy>43110342-Jeevanantham S</cp:lastModifiedBy>
  <cp:revision>7</cp:revision>
  <dcterms:created xsi:type="dcterms:W3CDTF">2024-12-31T09:40:01Z</dcterms:created>
  <dcterms:modified xsi:type="dcterms:W3CDTF">2026-06-04T04:50:57Z</dcterms:modified>
</cp:coreProperties>
</file>